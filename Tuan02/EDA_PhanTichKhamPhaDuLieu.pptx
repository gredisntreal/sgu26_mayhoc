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31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313A"/>
                </a:solidFill>
                <a:latin typeface="Arial"/>
              </a:rPr>
              <a:t>Tỷ lệ thiếu trong train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thiếu (train)</c:v>
                </c:pt>
              </c:strCache>
            </c:strRef>
          </c:tx>
          <c:spPr>
            <a:solidFill>
              <a:srgbClr val="2A7F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PoolQC</c:v>
                  </c:pt>
                  <c:pt idx="1">
                    <c:v>MiscFeature</c:v>
                  </c:pt>
                  <c:pt idx="2">
                    <c:v>Alley</c:v>
                  </c:pt>
                  <c:pt idx="3">
                    <c:v>Fence</c:v>
                  </c:pt>
                  <c:pt idx="4">
                    <c:v>MasVnrType</c:v>
                  </c:pt>
                  <c:pt idx="5">
                    <c:v>FireplaceQu</c:v>
                  </c:pt>
                  <c:pt idx="6">
                    <c:v>LotFrontage</c:v>
                  </c:pt>
                  <c:pt idx="7">
                    <c:v>Garage*</c:v>
                  </c:pt>
                  <c:pt idx="8">
                    <c:v>Bsmt*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99.52</c:v>
                </c:pt>
                <c:pt idx="1">
                  <c:v>96.3</c:v>
                </c:pt>
                <c:pt idx="2">
                  <c:v>93.77</c:v>
                </c:pt>
                <c:pt idx="3">
                  <c:v>80.75</c:v>
                </c:pt>
                <c:pt idx="4">
                  <c:v>59.73</c:v>
                </c:pt>
                <c:pt idx="5">
                  <c:v>47.26</c:v>
                </c:pt>
                <c:pt idx="6">
                  <c:v>17.74</c:v>
                </c:pt>
                <c:pt idx="7">
                  <c:v>5.55</c:v>
                </c:pt>
                <c:pt idx="8">
                  <c:v>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31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31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635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PHÂN TÍCH KHÁM PHÁ DỮ LIỆU · 1/5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định tính chất dữ liệu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1.460 × 81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47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(dòng × cột)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1.459 × 80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847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(không có SalePrice)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| 43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847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số | Biến phân loại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554480"/>
                <a:gridCol w="109728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vị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lệch chuẩn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755.000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215.245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GrLivArea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OverallQual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Kiểu dữ liệu train: object 43 · int64 35 · float64 3. MSSubClass là mã phân loại dù lưu dạng số; OverallQual là biến thứ bậc (1–10).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PHÂN TÍCH KHÁM PHÁ DỮ LIỆU · 2/5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đơn biến</a:t>
            </a:r>
            <a:endParaRPr lang="en-US" sz="2800" dirty="0"/>
          </a:p>
        </p:txBody>
      </p:sp>
      <p:pic>
        <p:nvPicPr>
          <p:cNvPr id="4" name="Image 0" descr="/home/claude/img/o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029200" cy="33415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0" y="118872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SalePrice lệch phải: trung bình 180.921 &gt; trung vị 163.000, đuôi dài tới 755.000.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log1p(SalePrice) gần phân phối chuẩn, phù hợp để mô hình hóa.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LotArea lệch rất mạnh (tối đa 215.245); GrLivArea và TotalBsmtSF cũng lệch phải; một số nhà không có tầng hầm (TotalBsmtSF = 0).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OverallQual tập trung ở mức 5–7.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phân loại mất cân bằng: MSZoning chủ yếu RL, SaleCondition chủ yếu Normal, HouseStyle nhiều nhất 1Story, Neighborhood nhiều nhất NAmes.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PHÂN TÍCH KHÁM PHÁ DỮ LIỆU · 3/5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đa biến</a:t>
            </a:r>
            <a:endParaRPr lang="en-US" sz="2800" dirty="0"/>
          </a:p>
        </p:txBody>
      </p:sp>
      <p:pic>
        <p:nvPicPr>
          <p:cNvPr id="4" name="Image 0" descr="/home/claude/img/o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557552" cy="3566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212080" y="11430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 với SalePrice cao nhất: OverallQual 0,79 · GrLivArea 0,71 · GarageCars 0,64 · GarageArea 0,62.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Cặp biến tương quan mạnh (đa cộng tuyến): GarageCars–GarageArea 0,88 · TotRmsAbvGrd–GrLivArea 0,83 · GarageYrBlt–YearBuilt 0,83 · TotalBsmtSF–1stFlrSF 0,82.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tăng đều theo OverallQual, dao động rộng hơn ở mức 8–10.</a:t>
            </a:r>
            <a:endParaRPr lang="en-US" sz="1100" dirty="0"/>
          </a:p>
        </p:txBody>
      </p:sp>
      <p:pic>
        <p:nvPicPr>
          <p:cNvPr id="6" name="Image 1" descr="/home/claude/img/o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017520"/>
            <a:ext cx="3566160" cy="1352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PHÂN TÍCH KHÁM PHÁ DỮ LIỆU · 4/5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trị thiếu và mẫu bất thường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6072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 bất thường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69164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trùng hoàn toàn: 0; Id trùng: 0; Id giao nhau train–test: 0.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YearBuilt &gt; YrSold: 0 dòng; GrLivArea ≤ 0: 0; SalePrice ≤ 0: 0.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YearRemodAdd &gt; YrSold: 1 dòng, cần kiểm tra.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Pool/Alley/Fence/MiscFeature thiếu &gt;80%; nhóm Garage* và Bsmt* thiếu cùng số dòng, nhiều khả năng là "không có tiện ích".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Garage* ≈ 81 dòng (5,55%); Bsmt* ≈ 37–38 dòng (~2,6%). Test có thêm vài cột thiếu rất ít (MSZoning, Utilities, KitchenQual…).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PHÂN TÍCH KHÁM PHÁ DỮ LIỆU · 5/5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định ngoại lệ (IQR)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00584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Ngưỡng dưới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Ngưỡng trên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ngoại lệ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340.038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GrLivArea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TotalBsmtSF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GarageArea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Ngoại lệ chỉ được đánh dấu để kiểm tra, không tự động xóa.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852160" y="123444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350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mẫu nghi vấn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8288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GrLivArea &gt; 4000 nhưng SalePrice &lt; 300.000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524: 4.676 sq ft, OverallQual 10, giá 184.750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1299: 5.642 sq ft, OverallQual 10, giá 160.000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Diện tích rất lớn, chất lượng cao nhưng giá thấp bất thường, lệch hẳn xu hướng GrLivArea–SalePrice.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2026-10-01T13:11:17Z</dcterms:created>
  <dcterms:modified xsi:type="dcterms:W3CDTF">2026-10-01T13:11:17Z</dcterms:modified>
</cp:coreProperties>
</file>